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compare two of the biggest names in consumer electronics — Apple and Samsung — and judge which brand owns the stronger Unique Selling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roadmap so the audience knows who speaks when and what each section adds.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USP, clear away the common confusions, then explain why it matters so much in a category where the hardware looks 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both brands and name the exact products we will judge, so the comparison later is fair and like-for-like.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rules of the contest before either brand is argued for, so the verdict later feels earned rather than opinionated.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Apple’s USP in three words: the seamless ecosystem. The centre of the diagram is one Apple ID — that single sign-in is the mechanism that makes everything else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proof points. Each one is small on its own; together they are the reason people stay.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USP is not only engineered into the product — it also decides how Apple advertises and how its stores are laid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appeal is emotional as much as functional — it is about the friction that never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weaknesses — the lock-in that is a strength for Apple is exactly what some buyers dislike.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Samsung’s USP has three parts working together — innovation, smart technology and choice. Nothing is locked to a single price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pillar has its own evidence. Innovation is the hardware, smart technology is Galaxy AI, and choice is the three-series line-up.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Samsung repeats one message across three price tiers — that is how the choice pillar becomes visible in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Samsung’s appeal is about breadth — features people want to try, at a price they can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Overall: Samsung suits buyers who want variety, customisation and the latest features; Apple suits buyers who value premium experience, simplicity and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Samsung actually wins uniqueness — foldables are the newest thing on a shop shelf. Apple wins everything else, and wins memorability and differentiation decisively.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winner plainly and give three reasons. Credit Samsung for uniqueness so the verdict does not sound like fandom.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mechanisms, then the everyday evidence. The point: this advantage is structural, not a marketing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handover: it converts the analysis into a creative brief the next speaker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idea, explain the structure, then perform or play the jingle. Afterwards, point out that every line maps to one ecosystem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contrast in one sentence, land the tagline, thank the audience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 ·  UNIQUE SELLING PROPOSITION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344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97180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649224" y="239572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370832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ecosystem, or endless innovation and choice?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speakers. Four criteria. One winning USP.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1600200"/>
            <a:ext cx="1481328" cy="1481328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pic>
        <p:nvPicPr>
          <p:cNvPr id="8" name="Image 0" descr="/tmp/claude-0/-home-user-prism-fluo/31874c90-9757-545b-b1b5-47082ad3b2d3/scratchpad/deck/img/logo-app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956816"/>
            <a:ext cx="658368" cy="7680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04120" y="3063240"/>
            <a:ext cx="1481328" cy="148132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pic>
        <p:nvPicPr>
          <p:cNvPr id="10" name="Image 1" descr="/tmp/claude-0/-home-user-prism-fluo/31874c90-9757-545b-b1b5-47082ad3b2d3/scratchpad/deck/img/logo-samsung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3657600"/>
            <a:ext cx="1133856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94360" y="5413248"/>
            <a:ext cx="11002975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78408" y="5413248"/>
            <a:ext cx="1023487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  ·  Yashvi  ·  Nishita  ·  Aarya  ·  Venesa  ·  Simran  ·  Mann  ·  Gouraksh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754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ORDER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line-up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4475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speakers, one argument — building from definition to verdict to jingle.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810512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2002536"/>
            <a:ext cx="548640" cy="54864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002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45336" y="195681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45336" y="226771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what a USP is and what we will evaluate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36792" y="1810512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2824" y="2002536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2824" y="2002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87768" y="1956816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Yashvi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87768" y="2267712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Apple’s USP — the seamless ecosystem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926080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" y="3118104"/>
            <a:ext cx="548640" cy="54864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45336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Nishita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45336" y="338328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from the consumer’s point of 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36792" y="2926080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92824" y="3118104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92824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87768" y="3072384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Aarya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87768" y="3383280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Samsung’s USP — innovation, smart tech and choice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041648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" y="4233672"/>
            <a:ext cx="548640" cy="54864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5039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545336" y="41879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Venesa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545336" y="449884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from the consumer’s point of view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36792" y="4041648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92824" y="4233672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92824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4187952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Simran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287768" y="4498848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and the winner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5157216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0392" y="5349240"/>
            <a:ext cx="548640" cy="54864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0392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545336" y="53035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545336" y="561441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 of the winning USP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36792" y="5157216"/>
            <a:ext cx="5257800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92824" y="5349240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92824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287768" y="530352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Gouraksh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287768" y="5614416"/>
            <a:ext cx="4050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Jingle, audio advertisement and conclusion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ISHA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a USP?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5532120" cy="2395728"/>
          </a:xfrm>
          <a:prstGeom prst="roundRect">
            <a:avLst>
              <a:gd name="adj" fmla="val 6107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tmp/claude-0/-home-user-prism-fluo/31874c90-9757-545b-b1b5-47082ad3b2d3/scratchpad/deck/img/ic-quote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48256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8408" y="25786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Unique Selling Proposition is the one clear reason a customer should choose your product over every other option on the shelf.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" y="4352544"/>
            <a:ext cx="553212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978408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USP is NOT…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78408" y="4882896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slogan or a logo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specifications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discount or an offer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a rival can copy by tomorrow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FOR ELECTRONICS BRANDS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37960" y="2212848"/>
            <a:ext cx="502920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12280" y="2532888"/>
            <a:ext cx="566928" cy="566928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15" name="Image 1" descr="/tmp/claude-0/-home-user-prism-fluo/31874c90-9757-545b-b1b5-47082ad3b2d3/scratchpad/deck/img/ic-sca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81" y="2680289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2" y="2414016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phone looks similar on paper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616952" y="2761488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Screen, chip and camera specs have converged. Specs alone no longer decide the sale.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537960" y="3602736"/>
            <a:ext cx="502920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12280" y="3922776"/>
            <a:ext cx="566928" cy="566928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20" name="Image 2" descr="/tmp/claude-0/-home-user-prism-fluo/31874c90-9757-545b-b1b5-47082ad3b2d3/scratchpad/deck/img/ic-hea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81" y="4070177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616952" y="3803904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buy an experience, not a spec sheet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616952" y="4151376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feeling of using the product is what gets remembered and recommended.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537960" y="4992624"/>
            <a:ext cx="5029200" cy="1207008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5312664"/>
            <a:ext cx="566928" cy="56692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25" name="Image 3" descr="/tmp/claude-0/-home-user-prism-fluo/31874c90-9757-545b-b1b5-47082ad3b2d3/scratchpad/deck/img/ic-tag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681" y="5460065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616952" y="5193792"/>
            <a:ext cx="3675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USP protects the price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616952" y="5541264"/>
            <a:ext cx="3675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a brand a reason to charge more instead of competing only on discounts.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ISHA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contenders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4475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sell premium smartphones. Each argues for them in a completely different way.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5394960" cy="3950208"/>
          </a:xfrm>
          <a:prstGeom prst="roundRect">
            <a:avLst>
              <a:gd name="adj" fmla="val 3704"/>
            </a:avLst>
          </a:prstGeom>
          <a:solidFill>
            <a:srgbClr val="1D1D1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/tmp/claude-0/-home-user-prism-fluo/31874c90-9757-545b-b1b5-47082ad3b2d3/scratchpad/deck/img/logo-appl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50008"/>
            <a:ext cx="457200" cy="53035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18488" y="24231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026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a connected experience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447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COMPARING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7764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iPhone, Mac and iPad working as one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AirPods and Apple Watch as companions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holding it all together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Apple ID across every device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5840" y="5330952"/>
            <a:ext cx="4572000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16152" y="5330952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buy one, and the next one works better.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73952" y="1965960"/>
            <a:ext cx="5394960" cy="3950208"/>
          </a:xfrm>
          <a:prstGeom prst="roundRect">
            <a:avLst>
              <a:gd name="adj" fmla="val 3704"/>
            </a:avLst>
          </a:prstGeom>
          <a:solidFill>
            <a:srgbClr val="1428A0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/tmp/claude-0/-home-user-prism-fluo/31874c90-9757-545b-b1b5-47082ad3b2d3/scratchpad/deck/img/logo-samsun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441448"/>
            <a:ext cx="1371600" cy="31089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85432" y="3026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innovation and choice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885432" y="3447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COMPARING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6885432" y="377647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S series — the flagship line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 series — the value line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Z Fold and Z Flip — foldables</a:t>
            </a:r>
            <a:endParaRPr lang="en-US" sz="125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AI features across the range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885432" y="5330952"/>
            <a:ext cx="4572000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095744" y="5330952"/>
            <a:ext cx="4151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whatever you want, there is a Galaxy for it.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ISHA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judge the two USPs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4475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criteria. Every later section feeds back into these — and Simran scores them on slide 16.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2517572" cy="3291840"/>
          </a:xfrm>
          <a:prstGeom prst="roundRect">
            <a:avLst>
              <a:gd name="adj" fmla="val 5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3544" y="2596896"/>
            <a:ext cx="713232" cy="713232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9" name="Image 0" descr="/tmp/claude-0/-home-user-prism-fluo/31874c90-9757-545b-b1b5-47082ad3b2d3/scratchpad/deck/img/ic-targe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984" y="2782336"/>
            <a:ext cx="342351" cy="3423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325548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E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23544" y="3511296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923544" y="3968496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rival copy it quickly, or is it hard to imitate?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23544" y="4553712"/>
            <a:ext cx="1859204" cy="749808"/>
          </a:xfrm>
          <a:prstGeom prst="roundRect">
            <a:avLst>
              <a:gd name="adj" fmla="val 13415"/>
            </a:avLst>
          </a:prstGeom>
          <a:solidFill>
            <a:srgbClr val="EDEEF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06424" y="4663440"/>
            <a:ext cx="1493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" y="4882896"/>
            <a:ext cx="1493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rival launch this next year?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22828" y="2212848"/>
            <a:ext cx="2517572" cy="3291840"/>
          </a:xfrm>
          <a:prstGeom prst="roundRect">
            <a:avLst>
              <a:gd name="adj" fmla="val 5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52012" y="2596896"/>
            <a:ext cx="713232" cy="713232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18" name="Image 1" descr="/tmp/claude-0/-home-user-prism-fluo/31874c90-9757-545b-b1b5-47082ad3b2d3/scratchpad/deck/img/ic-he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452" y="2782336"/>
            <a:ext cx="342351" cy="34235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154016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E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3752012" y="3511296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</a:t>
            </a:r>
            <a:endParaRPr lang="en-US" sz="1550" dirty="0"/>
          </a:p>
        </p:txBody>
      </p:sp>
      <p:sp>
        <p:nvSpPr>
          <p:cNvPr id="21" name="Text 17"/>
          <p:cNvSpPr txBox="1"/>
          <p:nvPr/>
        </p:nvSpPr>
        <p:spPr>
          <a:xfrm>
            <a:off x="3752012" y="3968496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solve a real problem the buyer feels daily?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752012" y="4553712"/>
            <a:ext cx="1859204" cy="749808"/>
          </a:xfrm>
          <a:prstGeom prst="roundRect">
            <a:avLst>
              <a:gd name="adj" fmla="val 13415"/>
            </a:avLst>
          </a:prstGeom>
          <a:solidFill>
            <a:srgbClr val="EDEEF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934892" y="4663440"/>
            <a:ext cx="1493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3934892" y="4882896"/>
            <a:ext cx="1493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help on an ordinary Tuesday?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251296" y="2212848"/>
            <a:ext cx="2517572" cy="3291840"/>
          </a:xfrm>
          <a:prstGeom prst="roundRect">
            <a:avLst>
              <a:gd name="adj" fmla="val 5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580480" y="2596896"/>
            <a:ext cx="713232" cy="713232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27" name="Image 2" descr="/tmp/claude-0/-home-user-prism-fluo/31874c90-9757-545b-b1b5-47082ad3b2d3/scratchpad/deck/img/ic-bulb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920" y="2782336"/>
            <a:ext cx="342351" cy="3423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982483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E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6580480" y="3511296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Memorability</a:t>
            </a:r>
            <a:endParaRPr lang="en-US" sz="1550" dirty="0"/>
          </a:p>
        </p:txBody>
      </p:sp>
      <p:sp>
        <p:nvSpPr>
          <p:cNvPr id="30" name="Text 25"/>
          <p:cNvSpPr txBox="1"/>
          <p:nvPr/>
        </p:nvSpPr>
        <p:spPr>
          <a:xfrm>
            <a:off x="6580480" y="3968496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repeat it in one sentence after hearing it once?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580480" y="4553712"/>
            <a:ext cx="1859204" cy="749808"/>
          </a:xfrm>
          <a:prstGeom prst="roundRect">
            <a:avLst>
              <a:gd name="adj" fmla="val 13415"/>
            </a:avLst>
          </a:prstGeom>
          <a:solidFill>
            <a:srgbClr val="EDEEF3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763360" y="4663440"/>
            <a:ext cx="1493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C97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6763360" y="4882896"/>
            <a:ext cx="1493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repeat it without notes?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079763" y="2212848"/>
            <a:ext cx="2517572" cy="3291840"/>
          </a:xfrm>
          <a:prstGeom prst="roundRect">
            <a:avLst>
              <a:gd name="adj" fmla="val 5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9408947" y="2596896"/>
            <a:ext cx="713232" cy="713232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6" name="Image 3" descr="/tmp/claude-0/-home-user-prism-fluo/31874c90-9757-545b-b1b5-47082ad3b2d3/scratchpad/deck/img/ic-swa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388" y="2782336"/>
            <a:ext cx="342351" cy="342351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0810951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DE0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38" name="Text 32"/>
          <p:cNvSpPr txBox="1"/>
          <p:nvPr/>
        </p:nvSpPr>
        <p:spPr>
          <a:xfrm>
            <a:off x="9408947" y="3511296"/>
            <a:ext cx="1859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550" dirty="0"/>
          </a:p>
        </p:txBody>
      </p:sp>
      <p:sp>
        <p:nvSpPr>
          <p:cNvPr id="39" name="Text 33"/>
          <p:cNvSpPr txBox="1"/>
          <p:nvPr/>
        </p:nvSpPr>
        <p:spPr>
          <a:xfrm>
            <a:off x="9408947" y="3968496"/>
            <a:ext cx="1859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clearly separate the brand from everyone else?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9408947" y="4553712"/>
            <a:ext cx="1859204" cy="749808"/>
          </a:xfrm>
          <a:prstGeom prst="roundRect">
            <a:avLst>
              <a:gd name="adj" fmla="val 13415"/>
            </a:avLst>
          </a:prstGeom>
          <a:solidFill>
            <a:srgbClr val="EDEEF3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9591827" y="4663440"/>
            <a:ext cx="1493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9591827" y="4882896"/>
            <a:ext cx="14934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logo — would you still believe it?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594360" y="5705856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scoring on slide 16 is our team’s own assessment of these four criteria — it is a judgement, not market research data.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YASHVI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1  ·  APPLE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760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</a:t>
            </a:r>
            <a:endParaRPr lang="en-US" sz="52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5844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D7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ecosystem where Apple devices work together effortlessly.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4553712"/>
            <a:ext cx="5486400" cy="1298448"/>
          </a:xfrm>
          <a:prstGeom prst="roundRect">
            <a:avLst>
              <a:gd name="adj" fmla="val 1126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/tmp/claude-0/-home-user-prism-fluo/31874c90-9757-545b-b1b5-47082ad3b2d3/scratchpad/deck/img/ic-lock-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9560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63624" y="4718304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USP is not any single device — it is what happens when you own two of them.</a:t>
            </a:r>
            <a:endParaRPr lang="en-US" sz="1300" dirty="0"/>
          </a:p>
        </p:txBody>
      </p:sp>
      <p:pic>
        <p:nvPicPr>
          <p:cNvPr id="10" name="Image 1" descr="/tmp/claude-0/-home-user-prism-fluo/31874c90-9757-545b-b1b5-47082ad3b2d3/scratchpad/deck/img/ecosyst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33856"/>
            <a:ext cx="5074920" cy="44531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563270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signs in with one Apple ID — that is what makes the hand-offs feel automatic.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YASHVI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1 · APPLE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proof points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71700"/>
            <a:ext cx="603504" cy="603504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8" name="Image 0" descr="/tmp/claude-0/-home-user-prism-fluo/31874c90-9757-545b-b1b5-47082ad3b2d3/scratchpad/deck/img/ic-lin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328611"/>
            <a:ext cx="289682" cy="2896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09928" y="207111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+ Mac + iPad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709928" y="2418588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tasks across devices with Handoff — start on one, finish on another.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73952" y="1810512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8272" y="2171700"/>
            <a:ext cx="603504" cy="603504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13" name="Image 1" descr="/tmp/claude-0/-home-user-prism-fluo/31874c90-9757-545b-b1b5-47082ad3b2d3/scratchpad/deck/img/ic-shar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83" y="2328611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89520" y="207111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AirDrop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589520" y="2418588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share photos, files and content between nearby Apple devices.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" y="333756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698748"/>
            <a:ext cx="603504" cy="603504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8" name="Image 2" descr="/tmp/claude-0/-home-user-prism-fluo/31874c90-9757-545b-b1b5-47082ad3b2d3/scratchpad/deck/img/ic-clou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385565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09928" y="35981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709928" y="3945636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photos, files and data synced, so every device shows the same thing.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73952" y="333756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48272" y="3698748"/>
            <a:ext cx="603504" cy="603504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23" name="Image 3" descr="/tmp/claude-0/-home-user-prism-fluo/31874c90-9757-545b-b1b5-47082ad3b2d3/scratchpad/deck/img/ic-headphone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183" y="3855659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89520" y="35981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AirPods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589520" y="3945636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connection that switches between Apple devices automatically.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94360" y="4864608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5225796"/>
            <a:ext cx="603504" cy="603504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28" name="Image 4" descr="/tmp/claude-0/-home-user-prism-fluo/31874c90-9757-545b-b1b5-47082ad3b2d3/scratchpad/deck/img/ic-watch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" y="5382707"/>
            <a:ext cx="289682" cy="28968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709928" y="512521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Watch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1709928" y="547268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 without constantly reaching for your phone.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473952" y="4864608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32" name="Image 5" descr="/tmp/claude-0/-home-user-prism-fluo/31874c90-9757-545b-b1b5-47082ad3b2d3/scratchpad/deck/img/ic-sparkle-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5285232"/>
            <a:ext cx="493776" cy="49377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443216" y="5065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unique?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7443216" y="5376672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sells an integrated experience — not just individual devices.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YASHVI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1 · APPLE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 and in the branding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539496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76272"/>
            <a:ext cx="566928" cy="566928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8" name="Image 0" descr="/tmp/claude-0/-home-user-prism-fluo/31874c90-9757-545b-b1b5-47082ad3b2d3/scratchpad/deck/img/ic-phon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21" y="232367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55064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90779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set each other up — sign in once, everything follows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apps, layout and gestures on every screen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messages and photos appear on all devices without being sent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pair themselves instead of being paired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73952" y="1810512"/>
            <a:ext cx="539496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39712" y="2176272"/>
            <a:ext cx="566928" cy="566928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13" name="Image 1" descr="/tmp/claude-0/-home-user-prism-fluo/31874c90-9757-545b-b1b5-47082ad3b2d3/scratchpad/deck/img/ic-megaphon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113" y="232367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34656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BRANDING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39712" y="2907792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Adverts show devices being used together, not spec sheets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language across the whole family of products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are laid out as one connected table of products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launch is framed as an addition to the ecosystem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4608576"/>
            <a:ext cx="11002975" cy="1664208"/>
          </a:xfrm>
          <a:prstGeom prst="roundRect">
            <a:avLst>
              <a:gd name="adj" fmla="val 8791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1005840" y="48097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</a:t>
            </a:r>
            <a:endParaRPr lang="en-US" sz="1050" dirty="0"/>
          </a:p>
        </p:txBody>
      </p:sp>
      <p:pic>
        <p:nvPicPr>
          <p:cNvPr id="18" name="Image 2" descr="/tmp/claude-0/-home-user-prism-fluo/31874c90-9757-545b-b1b5-47082ad3b2d3/scratchpad/deck/img/ic-arrow-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230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05840" y="5596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 email on iPhone, finish it on Mac</a:t>
            </a:r>
            <a:endParaRPr lang="en-US" sz="1200" dirty="0"/>
          </a:p>
        </p:txBody>
      </p:sp>
      <p:pic>
        <p:nvPicPr>
          <p:cNvPr id="20" name="Image 3" descr="/tmp/claude-0/-home-user-prism-fluo/31874c90-9757-545b-b1b5-47082ad3b2d3/scratchpad/deck/img/ic-arrow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523036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26280" y="5596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 holiday photos to a friend in seconds</a:t>
            </a:r>
            <a:endParaRPr lang="en-US" sz="1200" dirty="0"/>
          </a:p>
        </p:txBody>
      </p:sp>
      <p:pic>
        <p:nvPicPr>
          <p:cNvPr id="22" name="Image 4" descr="/tmp/claude-0/-home-user-prism-fluo/31874c90-9757-545b-b1b5-47082ad3b2d3/scratchpad/deck/img/ic-arrow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523036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046720" y="55961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 call on your Watch with the phone in your bag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NISHITA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1 · CONSUMER PERSPECTIVE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ecosystem appeals to buyers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48256"/>
            <a:ext cx="548640" cy="548640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8" name="Image 0" descr="/tmp/claude-0/-home-user-prism-fluo/31874c90-9757-545b-b1b5-47082ad3b2d3/scratchpad/deck/img/ic-lin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90902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55064" y="1920240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small, daily frustrations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655064" y="2267712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cables, no transfers, no re-typing passwords. The annoyance simply disappears.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" y="2962656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00400"/>
            <a:ext cx="548640" cy="548640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13" name="Image 1" descr="/tmp/claude-0/-home-user-prism-fluo/31874c90-9757-545b-b1b5-47082ad3b2d3/scratchpad/deck/img/ic-user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33430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55064" y="307238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easy for non-technical users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655064" y="3419856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to be set up. Convenience arrives by default, not by configuration.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4360" y="4114800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352544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8" name="Image 2" descr="/tmp/claude-0/-home-user-prism-fluo/31874c90-9757-545b-b1b5-47082ad3b2d3/scratchpad/deck/img/ic-lo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495190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55064" y="4224528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grows with every extra device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655064" y="4572000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and third Apple product make the first one better — so buying again feels logical.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" y="5266944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5504688"/>
            <a:ext cx="548640" cy="548640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23" name="Image 3" descr="/tmp/claude-0/-home-user-prism-fluo/31874c90-9757-545b-b1b5-47082ad3b2d3/scratchpad/deck/img/ic-hear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647334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55064" y="5376672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builds trust and habit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655064" y="5724144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routine works, switching feels like a risk rather than an upgrade.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699248" y="1810512"/>
            <a:ext cx="3895344" cy="4462272"/>
          </a:xfrm>
          <a:prstGeom prst="roundRect">
            <a:avLst>
              <a:gd name="adj" fmla="val 3756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/tmp/claude-0/-home-user-prism-fluo/31874c90-9757-545b-b1b5-47082ad3b2d3/scratchpad/deck/img/ic-quote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15798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065008" y="2834640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just works."</a:t>
            </a:r>
            <a:endParaRPr lang="en-US" sz="2600" dirty="0"/>
          </a:p>
        </p:txBody>
      </p:sp>
      <p:sp>
        <p:nvSpPr>
          <p:cNvPr id="29" name="Text 22"/>
          <p:cNvSpPr txBox="1"/>
          <p:nvPr/>
        </p:nvSpPr>
        <p:spPr>
          <a:xfrm>
            <a:off x="8065008" y="3529584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promise the ecosystem makes — and the reason customers accept a higher price for it.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065008" y="4572000"/>
            <a:ext cx="3163824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9000"/>
            </a:srgbClr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284464" y="47365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IT SUITS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8284464" y="501091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values simplicity, consistency and time saved more than customisation or a lower price.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NISHITA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1 · CONSUMER PERSPECTIVE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weaknesses, verdict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5394960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57984"/>
            <a:ext cx="548640" cy="54864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8" name="Image 0" descr="/tmp/claude-0/-home-user-prism-fluo/31874c90-9757-545b-b1b5-47082ad3b2d3/scratchpad/deck/img/ic-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00630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36776" y="2231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85292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hard for a rival to copy — it needs the whole product family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is felt every single day, not just at purchase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 premium price without discounting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one purchase into repeat purchases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73952" y="1810512"/>
            <a:ext cx="5394960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39712" y="2157984"/>
            <a:ext cx="548640" cy="548640"/>
          </a:xfrm>
          <a:prstGeom prst="ellipse">
            <a:avLst/>
          </a:prstGeom>
          <a:solidFill>
            <a:srgbClr val="C97D14"/>
          </a:solidFill>
          <a:ln/>
        </p:spPr>
      </p:sp>
      <p:pic>
        <p:nvPicPr>
          <p:cNvPr id="13" name="Image 1" descr="/tmp/claude-0/-home-user-prism-fluo/31874c90-9757-545b-b1b5-47082ad3b2d3/scratchpad/deck/img/ic-ale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58" y="230063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16368" y="2231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C97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39712" y="2852928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 only appears once you own more than one Apple device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entry price than many rival options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customisation and fewer form-factor choices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ecosystem later feels costly — some buyers resent that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4809744"/>
            <a:ext cx="11002975" cy="1463040"/>
          </a:xfrm>
          <a:prstGeom prst="roundRect">
            <a:avLst>
              <a:gd name="adj" fmla="val 10000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8408" y="5120640"/>
            <a:ext cx="621792" cy="621792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18" name="Image 2" descr="/tmp/claude-0/-home-user-prism-fluo/31874c90-9757-545b-b1b5-47082ad3b2d3/scratchpad/deck/img/ic-targe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74" y="5282306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992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VERDICT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285232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effective. Rivals can match a camera or a chip in one product cycle — they cannot quickly build a whole family of devices that already talk to each other.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AARYA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2  ·  SAMSUNG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5760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Innovation,</a:t>
            </a:r>
            <a:endParaRPr lang="en-US" sz="46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Tech</a:t>
            </a:r>
            <a:endParaRPr lang="en-US" sz="46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Choice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879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differentiates itself by combining innovative technology, intelligent features and a wide range of product choices.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5230368"/>
            <a:ext cx="5486400" cy="1078992"/>
          </a:xfrm>
          <a:prstGeom prst="roundRect">
            <a:avLst>
              <a:gd name="adj" fmla="val 1355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/tmp/claude-0/-home-user-prism-fluo/31874c90-9757-545b-b1b5-47082ad3b2d3/scratchpad/deck/img/ic-gri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5559552"/>
            <a:ext cx="420624" cy="420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5230368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Apple narrows the choice, Samsung widens it.</a:t>
            </a:r>
            <a:endParaRPr lang="en-US" sz="1400" dirty="0"/>
          </a:p>
        </p:txBody>
      </p:sp>
      <p:pic>
        <p:nvPicPr>
          <p:cNvPr id="10" name="Image 1" descr="/tmp/claude-0/-home-user-prism-fluo/31874c90-9757-545b-b1b5-47082ad3b2d3/scratchpad/deck/img/fold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63040"/>
            <a:ext cx="4846320" cy="35661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20840" y="5175504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Galaxy Z Fold and Z Flip: hardware that changes shape — the clearest signal of Samsung’s innovation claim.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AARYA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2 · SAMSUNG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pillars, one proposition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47088"/>
            <a:ext cx="3448202" cy="4242816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2212848"/>
            <a:ext cx="731520" cy="73152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8" name="Image 0" descr="/tmp/claude-0/-home-user-prism-fluo/31874c90-9757-545b-b1b5-47082ad3b2d3/scratchpad/deck/img/ic-lay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403043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23544" y="3108960"/>
            <a:ext cx="2789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3547872"/>
            <a:ext cx="27898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introduces new and unique smartphone designs.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23544" y="4133088"/>
            <a:ext cx="2789834" cy="1700784"/>
          </a:xfrm>
          <a:prstGeom prst="roundRect">
            <a:avLst>
              <a:gd name="adj" fmla="val 6452"/>
            </a:avLst>
          </a:prstGeom>
          <a:solidFill>
            <a:srgbClr val="EDEEF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4279392"/>
            <a:ext cx="2350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572000"/>
            <a:ext cx="2350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Z Fold — a phone that opens into a tablet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Z Flip — a flagship that folds in half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 factors before the rest of the market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71746" y="1847088"/>
            <a:ext cx="3448202" cy="4242816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0930" y="2212848"/>
            <a:ext cx="731520" cy="731520"/>
          </a:xfrm>
          <a:prstGeom prst="ellipse">
            <a:avLst/>
          </a:prstGeom>
          <a:solidFill>
            <a:srgbClr val="3C64F4"/>
          </a:solidFill>
          <a:ln/>
        </p:spPr>
      </p:sp>
      <p:pic>
        <p:nvPicPr>
          <p:cNvPr id="16" name="Image 1" descr="/tmp/claude-0/-home-user-prism-fluo/31874c90-9757-545b-b1b5-47082ad3b2d3/scratchpad/deck/img/ic-sparkl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126" y="2403043"/>
            <a:ext cx="351130" cy="35113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700930" y="3108960"/>
            <a:ext cx="2789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Technology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700930" y="3547872"/>
            <a:ext cx="27898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AI makes everyday tasks easier and more convenient.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00930" y="4133088"/>
            <a:ext cx="2789834" cy="1700784"/>
          </a:xfrm>
          <a:prstGeom prst="roundRect">
            <a:avLst>
              <a:gd name="adj" fmla="val 6452"/>
            </a:avLst>
          </a:prstGeom>
          <a:solidFill>
            <a:srgbClr val="EDEEF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920386" y="4279392"/>
            <a:ext cx="2350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920386" y="4572000"/>
            <a:ext cx="2350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Assist — edit images instantly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Assist — rewrite and summarise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— live translation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Brief — a daily summary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149133" y="1847088"/>
            <a:ext cx="3448202" cy="4242816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78317" y="2212848"/>
            <a:ext cx="731520" cy="731520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24" name="Image 2" descr="/tmp/claude-0/-home-user-prism-fluo/31874c90-9757-545b-b1b5-47082ad3b2d3/scratchpad/deck/img/ic-gri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403043"/>
            <a:ext cx="351130" cy="35113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478317" y="3108960"/>
            <a:ext cx="2789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Choice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8478317" y="3547872"/>
            <a:ext cx="278983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in different designs, features and price ranges.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478317" y="4133088"/>
            <a:ext cx="2789834" cy="1700784"/>
          </a:xfrm>
          <a:prstGeom prst="roundRect">
            <a:avLst>
              <a:gd name="adj" fmla="val 6452"/>
            </a:avLst>
          </a:prstGeom>
          <a:solidFill>
            <a:srgbClr val="EDEEF3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697773" y="4279392"/>
            <a:ext cx="2350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8697773" y="4572000"/>
            <a:ext cx="23509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S series — flagship performance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 series — accessible pricing</a:t>
            </a:r>
            <a:endParaRPr lang="en-US" sz="100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Z series — foldable form factors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AARYA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2 · SAMSUNG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 and in the branding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5394960" cy="2359152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57984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8" name="Image 0" descr="/tmp/claude-0/-home-user-prism-fluo/31874c90-9757-545b-b1b5-47082ad3b2d3/scratchpad/deck/img/ic-phon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300630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36776" y="2231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871216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 screens that change what a phone can be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AI features built into the everyday apps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at almost every price point and screen size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73952" y="1810512"/>
            <a:ext cx="5394960" cy="2359152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39712" y="2157984"/>
            <a:ext cx="548640" cy="548640"/>
          </a:xfrm>
          <a:prstGeom prst="ellipse">
            <a:avLst/>
          </a:prstGeom>
          <a:solidFill>
            <a:srgbClr val="3C64F4"/>
          </a:solidFill>
          <a:ln/>
        </p:spPr>
      </p:sp>
      <p:pic>
        <p:nvPicPr>
          <p:cNvPr id="13" name="Image 1" descr="/tmp/claude-0/-home-user-prism-fluo/31874c90-9757-545b-b1b5-47082ad3b2d3/scratchpad/deck/img/ic-megaphon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58" y="2300630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16368" y="22311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BRANDING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39712" y="2871216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events lead with the newest form factor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demonstrates AI features in real situations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run across every tier, not only the flagship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4370832"/>
            <a:ext cx="11002975" cy="1901952"/>
          </a:xfrm>
          <a:prstGeom prst="roundRect">
            <a:avLst>
              <a:gd name="adj" fmla="val 7692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1005840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USP, THREE PRICE TIERS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4882896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promise — new technology, your choice of shape and budget — is repeated at every level of the range. A student and a flagship buyer are both being sold "choice".</a:t>
            </a:r>
            <a:endParaRPr lang="en-US" sz="1300" dirty="0"/>
          </a:p>
        </p:txBody>
      </p:sp>
      <p:pic>
        <p:nvPicPr>
          <p:cNvPr id="19" name="Image 2" descr="/tmp/claude-0/-home-user-prism-fluo/31874c90-9757-545b-b1b5-47082ad3b2d3/scratchpad/deck/img/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517136"/>
            <a:ext cx="4023360" cy="18013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VENESA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2 · CONSUMER PERSPECTIVE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Samsung’s USP appeals to buyers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3895344" cy="4462272"/>
          </a:xfrm>
          <a:prstGeom prst="roundRect">
            <a:avLst>
              <a:gd name="adj" fmla="val 3756"/>
            </a:avLst>
          </a:prstGeom>
          <a:solidFill>
            <a:srgbClr val="1428A0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tmp/claude-0/-home-user-prism-fluo/31874c90-9757-545b-b1b5-47082ad3b2d3/scratchpad/deck/img/ic-quot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579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2761488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options,</a:t>
            </a:r>
            <a:endParaRPr lang="en-US" sz="2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new ideas.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785616"/>
            <a:ext cx="3163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appeals through innovation, variety and advanced features — and offers phones across price ranges, giving consumers more choice than Apple.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5029200"/>
            <a:ext cx="3163824" cy="914400"/>
          </a:xfrm>
          <a:prstGeom prst="roundRect">
            <a:avLst>
              <a:gd name="adj" fmla="val 13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61288" y="5157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IT SUITS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61288" y="53949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wants the newest technology, room to customise, and a phone that fits their budget.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28032" y="1810512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02352" y="2048256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5" name="Image 1" descr="/tmp/claude-0/-home-user-prism-fluo/31874c90-9757-545b-b1b5-47082ad3b2d3/scratchpad/deck/img/ic-tag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998" y="2190902"/>
            <a:ext cx="263347" cy="26334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88736" y="1920240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at every budget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5888736" y="2267712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value A series to the flagship S series — consumers are not forced into one price.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828032" y="2962656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02352" y="3200400"/>
            <a:ext cx="548640" cy="548640"/>
          </a:xfrm>
          <a:prstGeom prst="ellipse">
            <a:avLst/>
          </a:prstGeom>
          <a:solidFill>
            <a:srgbClr val="3C64F4"/>
          </a:solidFill>
          <a:ln/>
        </p:spPr>
      </p:sp>
      <p:pic>
        <p:nvPicPr>
          <p:cNvPr id="20" name="Image 2" descr="/tmp/claude-0/-home-user-prism-fluo/31874c90-9757-545b-b1b5-47082ad3b2d3/scratchpad/deck/img/ic-layer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998" y="334304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888736" y="3072384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Genuinely new hardware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888736" y="3419856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 phones give buyers something they simply cannot get from a conventional slab phone.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28032" y="4114800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102352" y="4352544"/>
            <a:ext cx="548640" cy="548640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25" name="Image 3" descr="/tmp/claude-0/-home-user-prism-fluo/31874c90-9757-545b-b1b5-47082ad3b2d3/scratchpad/deck/img/ic-sparkl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998" y="4495190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888736" y="4224528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helps with real tasks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888736" y="4572000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Assist, Writing Assist, Interpreter and Now Brief make everyday jobs quicker.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828032" y="5266944"/>
            <a:ext cx="676656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102352" y="5504688"/>
            <a:ext cx="548640" cy="548640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30" name="Image 4" descr="/tmp/claude-0/-home-user-prism-fluo/31874c90-9757-545b-b1b5-47082ad3b2d3/scratchpad/deck/img/ic-grid-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998" y="5647334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888736" y="5376672"/>
            <a:ext cx="5431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to customise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5888736" y="5724144"/>
            <a:ext cx="5431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Displays, cameras and software settings can be tailored to how the owner actually uses the phone.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VENESA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2 · CONSUMER PERSPECTIVE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weaknesses, verdict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10512"/>
            <a:ext cx="5394960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39696"/>
            <a:ext cx="548640" cy="548640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8" name="Image 0" descr="/tmp/claude-0/-home-user-prism-fluo/31874c90-9757-545b-b1b5-47082ad3b2d3/scratchpad/deck/img/ic-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282342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36776" y="2212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816352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variety across designs and price points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features and foldable form factors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price range reaches far more buyers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customisation for the owner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73952" y="1810512"/>
            <a:ext cx="5394960" cy="2798064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39712" y="2139696"/>
            <a:ext cx="548640" cy="548640"/>
          </a:xfrm>
          <a:prstGeom prst="ellipse">
            <a:avLst/>
          </a:prstGeom>
          <a:solidFill>
            <a:srgbClr val="C97D14"/>
          </a:solidFill>
          <a:ln/>
        </p:spPr>
      </p:sp>
      <p:pic>
        <p:nvPicPr>
          <p:cNvPr id="13" name="Image 1" descr="/tmp/claude-0/-home-user-prism-fluo/31874c90-9757-545b-b1b5-47082ad3b2d3/scratchpad/deck/img/ic-ale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358" y="2282342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16368" y="2212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80" kern="0" dirty="0">
                <a:solidFill>
                  <a:srgbClr val="C97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39712" y="2816352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many models that choosing becomes confusing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vary between models — the promise is inconsistent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three-part USP is harder to remember than a single idea</a:t>
            </a:r>
            <a:endParaRPr lang="en-US" sz="1200" dirty="0"/>
          </a:p>
          <a:p>
            <a:pPr marL="165100" indent="-1651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can copy an individual feature quickly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4809744"/>
            <a:ext cx="11002975" cy="1463040"/>
          </a:xfrm>
          <a:prstGeom prst="roundRect">
            <a:avLst>
              <a:gd name="adj" fmla="val 10000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8408" y="5120640"/>
            <a:ext cx="621792" cy="621792"/>
          </a:xfrm>
          <a:prstGeom prst="ellipse">
            <a:avLst/>
          </a:prstGeom>
          <a:solidFill>
            <a:srgbClr val="3C64F4"/>
          </a:solidFill>
          <a:ln/>
        </p:spPr>
      </p:sp>
      <p:pic>
        <p:nvPicPr>
          <p:cNvPr id="18" name="Image 2" descr="/tmp/claude-0/-home-user-prism-fluo/31874c90-9757-545b-b1b5-47082ad3b2d3/scratchpad/deck/img/ic-swap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74" y="5282306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9926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AC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SAMSUNG DIFFERENTIATES ITSELF FROM APPLE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285232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focuses on a premium, simple, closely connected ecosystem. Samsung gives consumers more device options, more customisation and more experimental technology — variety and novelty instead of integration.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SIMRAN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023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COMPARISON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7665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to head, on our four criteria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61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out of five. This is our team’s assessment of the two propositions — a judgement, not market research data.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10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 ·  SEAMLESS ECOSYSTEM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 ·  INNOVATION &amp; CHOICE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11002975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2121408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2240280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9644" y="2240280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24528" y="2240280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9412" y="2240280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2240280"/>
            <a:ext cx="141732" cy="141732"/>
          </a:xfrm>
          <a:prstGeom prst="ellipse">
            <a:avLst/>
          </a:prstGeom>
          <a:solidFill>
            <a:srgbClr val="D8DB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65192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4871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hard to copy, but the idea itself is well known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09560" y="2240280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4444" y="2240280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1" name="Shape 19"/>
          <p:cNvSpPr/>
          <p:nvPr/>
        </p:nvSpPr>
        <p:spPr>
          <a:xfrm>
            <a:off x="8339328" y="2240280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2" name="Shape 20"/>
          <p:cNvSpPr/>
          <p:nvPr/>
        </p:nvSpPr>
        <p:spPr>
          <a:xfrm>
            <a:off x="8554212" y="2240280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3" name="Shape 21"/>
          <p:cNvSpPr/>
          <p:nvPr/>
        </p:nvSpPr>
        <p:spPr>
          <a:xfrm>
            <a:off x="8769096" y="2240280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79992" y="2167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487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Foldable hardware is the most visibly new thing in the category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2944368"/>
            <a:ext cx="11002975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68680" y="299923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94760" y="3118104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9644" y="3118104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0" name="Shape 28"/>
          <p:cNvSpPr/>
          <p:nvPr/>
        </p:nvSpPr>
        <p:spPr>
          <a:xfrm>
            <a:off x="4224528" y="3118104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1" name="Shape 29"/>
          <p:cNvSpPr/>
          <p:nvPr/>
        </p:nvSpPr>
        <p:spPr>
          <a:xfrm>
            <a:off x="4439412" y="3118104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2" name="Shape 30"/>
          <p:cNvSpPr/>
          <p:nvPr/>
        </p:nvSpPr>
        <p:spPr>
          <a:xfrm>
            <a:off x="4654296" y="3118104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965192" y="3044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33649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 and effort every single day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9560" y="3118104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4444" y="3118104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7" name="Shape 35"/>
          <p:cNvSpPr/>
          <p:nvPr/>
        </p:nvSpPr>
        <p:spPr>
          <a:xfrm>
            <a:off x="8339328" y="3118104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8" name="Shape 36"/>
          <p:cNvSpPr/>
          <p:nvPr/>
        </p:nvSpPr>
        <p:spPr>
          <a:xfrm>
            <a:off x="8554212" y="3118104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39" name="Shape 37"/>
          <p:cNvSpPr/>
          <p:nvPr/>
        </p:nvSpPr>
        <p:spPr>
          <a:xfrm>
            <a:off x="8769096" y="3118104"/>
            <a:ext cx="141732" cy="141732"/>
          </a:xfrm>
          <a:prstGeom prst="ellipse">
            <a:avLst/>
          </a:prstGeom>
          <a:solidFill>
            <a:srgbClr val="D8DBE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079992" y="3044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909560" y="33649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a feature is used — but not every buyer uses them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" y="3822192"/>
            <a:ext cx="11002975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868680" y="3877056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Memorability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794760" y="3995928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5" name="Shape 43"/>
          <p:cNvSpPr/>
          <p:nvPr/>
        </p:nvSpPr>
        <p:spPr>
          <a:xfrm>
            <a:off x="4009644" y="3995928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6" name="Shape 44"/>
          <p:cNvSpPr/>
          <p:nvPr/>
        </p:nvSpPr>
        <p:spPr>
          <a:xfrm>
            <a:off x="4224528" y="3995928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7" name="Shape 45"/>
          <p:cNvSpPr/>
          <p:nvPr/>
        </p:nvSpPr>
        <p:spPr>
          <a:xfrm>
            <a:off x="4439412" y="3995928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8" name="Shape 46"/>
          <p:cNvSpPr/>
          <p:nvPr/>
        </p:nvSpPr>
        <p:spPr>
          <a:xfrm>
            <a:off x="4654296" y="3995928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965192" y="3922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3794760" y="4242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one sentence: everything works together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09560" y="3995928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52" name="Shape 50"/>
          <p:cNvSpPr/>
          <p:nvPr/>
        </p:nvSpPr>
        <p:spPr>
          <a:xfrm>
            <a:off x="8124444" y="3995928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53" name="Shape 51"/>
          <p:cNvSpPr/>
          <p:nvPr/>
        </p:nvSpPr>
        <p:spPr>
          <a:xfrm>
            <a:off x="8339328" y="3995928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54" name="Shape 52"/>
          <p:cNvSpPr/>
          <p:nvPr/>
        </p:nvSpPr>
        <p:spPr>
          <a:xfrm>
            <a:off x="8554212" y="3995928"/>
            <a:ext cx="141732" cy="141732"/>
          </a:xfrm>
          <a:prstGeom prst="ellipse">
            <a:avLst/>
          </a:prstGeom>
          <a:solidFill>
            <a:srgbClr val="D8DBE2"/>
          </a:solidFill>
          <a:ln/>
        </p:spPr>
      </p:sp>
      <p:sp>
        <p:nvSpPr>
          <p:cNvPr id="55" name="Shape 53"/>
          <p:cNvSpPr/>
          <p:nvPr/>
        </p:nvSpPr>
        <p:spPr>
          <a:xfrm>
            <a:off x="8769096" y="3995928"/>
            <a:ext cx="141732" cy="141732"/>
          </a:xfrm>
          <a:prstGeom prst="ellipse">
            <a:avLst/>
          </a:prstGeom>
          <a:solidFill>
            <a:srgbClr val="D8DBE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079992" y="3922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7909560" y="42428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at once are harder to repeat back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94360" y="4700016"/>
            <a:ext cx="11002975" cy="786384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868680" y="475488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3794760" y="4873752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1" name="Shape 59"/>
          <p:cNvSpPr/>
          <p:nvPr/>
        </p:nvSpPr>
        <p:spPr>
          <a:xfrm>
            <a:off x="4009644" y="4873752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2" name="Shape 60"/>
          <p:cNvSpPr/>
          <p:nvPr/>
        </p:nvSpPr>
        <p:spPr>
          <a:xfrm>
            <a:off x="4224528" y="4873752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3" name="Shape 61"/>
          <p:cNvSpPr/>
          <p:nvPr/>
        </p:nvSpPr>
        <p:spPr>
          <a:xfrm>
            <a:off x="4439412" y="4873752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4" name="Shape 62"/>
          <p:cNvSpPr/>
          <p:nvPr/>
        </p:nvSpPr>
        <p:spPr>
          <a:xfrm>
            <a:off x="4654296" y="4873752"/>
            <a:ext cx="141732" cy="141732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965192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3794760" y="5120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else owns a whole connected device family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909560" y="4873752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68" name="Shape 66"/>
          <p:cNvSpPr/>
          <p:nvPr/>
        </p:nvSpPr>
        <p:spPr>
          <a:xfrm>
            <a:off x="8124444" y="4873752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69" name="Shape 67"/>
          <p:cNvSpPr/>
          <p:nvPr/>
        </p:nvSpPr>
        <p:spPr>
          <a:xfrm>
            <a:off x="8339328" y="4873752"/>
            <a:ext cx="141732" cy="141732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70" name="Shape 68"/>
          <p:cNvSpPr/>
          <p:nvPr/>
        </p:nvSpPr>
        <p:spPr>
          <a:xfrm>
            <a:off x="8554212" y="4873752"/>
            <a:ext cx="141732" cy="141732"/>
          </a:xfrm>
          <a:prstGeom prst="ellipse">
            <a:avLst/>
          </a:prstGeom>
          <a:solidFill>
            <a:srgbClr val="D8DBE2"/>
          </a:solidFill>
          <a:ln/>
        </p:spPr>
      </p:sp>
      <p:sp>
        <p:nvSpPr>
          <p:cNvPr id="71" name="Shape 69"/>
          <p:cNvSpPr/>
          <p:nvPr/>
        </p:nvSpPr>
        <p:spPr>
          <a:xfrm>
            <a:off x="8769096" y="4873752"/>
            <a:ext cx="141732" cy="141732"/>
          </a:xfrm>
          <a:prstGeom prst="ellipse">
            <a:avLst/>
          </a:prstGeom>
          <a:solidFill>
            <a:srgbClr val="D8DBE2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079992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7909560" y="5120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features get matched by rivals within a cycle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94360" y="5614416"/>
            <a:ext cx="11002975" cy="530352"/>
          </a:xfrm>
          <a:prstGeom prst="roundRect">
            <a:avLst>
              <a:gd name="adj" fmla="val 22414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868680" y="56144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794760" y="56144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700" dirty="0"/>
          </a:p>
        </p:txBody>
      </p:sp>
      <p:sp>
        <p:nvSpPr>
          <p:cNvPr id="77" name="Text 75"/>
          <p:cNvSpPr txBox="1"/>
          <p:nvPr/>
        </p:nvSpPr>
        <p:spPr>
          <a:xfrm>
            <a:off x="7909560" y="56144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700" dirty="0"/>
          </a:p>
        </p:txBody>
      </p:sp>
      <p:sp>
        <p:nvSpPr>
          <p:cNvPr id="78" name="Text 76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SIMRAN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33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877824" cy="877824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6" name="Image 0" descr="/tmp/claude-0/-home-user-prism-fluo/31874c90-9757-545b-b1b5-47082ad3b2d3/scratchpad/deck/img/ic-trophy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94" y="1855866"/>
            <a:ext cx="421356" cy="4213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724912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stronger USP: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Apple’s Seamless Ecosystem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224528"/>
            <a:ext cx="6126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out-innovates Apple on hardware. But a USP is judged on whether customers can name it, feel it and fail to find it elsewhere.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5321808"/>
            <a:ext cx="6126480" cy="950976"/>
          </a:xfrm>
          <a:prstGeom prst="roundRect">
            <a:avLst>
              <a:gd name="adj" fmla="val 14423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78408" y="54315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SCORECARD (SLIDE 16)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78408" y="566928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19</a:t>
            </a:r>
            <a:pPr indent="0" marL="0">
              <a:buNone/>
            </a:pPr>
            <a:r>
              <a:rPr lang="en-US" sz="17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/20</a:t>
            </a:r>
            <a:pPr indent="0" marL="0">
              <a:buNone/>
            </a:pPr>
            <a:r>
              <a:rPr lang="en-US" sz="17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·   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15</a:t>
            </a:r>
            <a:pPr indent="0" marL="0">
              <a:buNone/>
            </a:pPr>
            <a:r>
              <a:rPr lang="en-US" sz="17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/20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03720" y="1572768"/>
            <a:ext cx="4690872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78040" y="1956816"/>
            <a:ext cx="603504" cy="603504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14" name="Image 1" descr="/tmp/claude-0/-home-user-prism-fluo/31874c90-9757-545b-b1b5-47082ad3b2d3/scratchpad/deck/img/ic-bulb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951" y="2113727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936992" y="17556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one idea, not three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936992" y="2103120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"Everything works together" survives one hearing. "Innovation, smart technology and choice" does not.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903720" y="3145536"/>
            <a:ext cx="4690872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78040" y="3529584"/>
            <a:ext cx="603504" cy="603504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19" name="Image 2" descr="/tmp/claude-0/-home-user-prism-fluo/31874c90-9757-545b-b1b5-47082ad3b2d3/scratchpad/deck/img/ic-lock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951" y="3686495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36992" y="332841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compounds instead of resetting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936992" y="367588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Apple device makes the existing ones more useful. A new Samsung feature starts the argument again.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903720" y="4718304"/>
            <a:ext cx="4690872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78040" y="5102352"/>
            <a:ext cx="603504" cy="603504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24" name="Image 3" descr="/tmp/claude-0/-home-user-prism-fluo/31874c90-9757-545b-b1b5-47082ad3b2d3/scratchpad/deck/img/ic-target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951" y="5259263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936992" y="490118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be matched feature by feature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936992" y="52486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rival can build a foldable in one cycle. Building a family of devices that already trust each other takes years.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ANALYSIS · THE WINNING USP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ecosystem keeps winning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448202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5256" y="2157984"/>
            <a:ext cx="658368" cy="658368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8" name="Image 0" descr="/tmp/claude-0/-home-user-prism-fluo/31874c90-9757-545b-b1b5-47082ad3b2d3/scratchpad/deck/img/ic-lin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432" y="2329160"/>
            <a:ext cx="316017" cy="31601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" y="2962656"/>
            <a:ext cx="2826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compounds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05256" y="3511296"/>
            <a:ext cx="28264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is a good product. Two devices become a system. Each purchase increases the value of the ones already owned — so the advantage grows over time instead of resetting each launch.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1746" y="1828800"/>
            <a:ext cx="3448202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2642" y="2157984"/>
            <a:ext cx="658368" cy="658368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13" name="Image 1" descr="/tmp/claude-0/-home-user-prism-fluo/31874c90-9757-545b-b1b5-47082ad3b2d3/scratchpad/deck/img/ic-lock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818" y="2329160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82642" y="2962656"/>
            <a:ext cx="2826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raises the cost of leaving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82642" y="3511296"/>
            <a:ext cx="28264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away does not mean losing one phone — it means losing the hand-offs, the shared files and the habits built around them. That keeps customers without needing a discount.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49133" y="1828800"/>
            <a:ext cx="3448202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0029" y="2157984"/>
            <a:ext cx="658368" cy="658368"/>
          </a:xfrm>
          <a:prstGeom prst="ellipse">
            <a:avLst/>
          </a:prstGeom>
          <a:solidFill>
            <a:srgbClr val="1428A0"/>
          </a:solidFill>
          <a:ln/>
        </p:spPr>
      </p:sp>
      <p:pic>
        <p:nvPicPr>
          <p:cNvPr id="18" name="Image 2" descr="/tmp/claude-0/-home-user-prism-fluo/31874c90-9757-545b-b1b5-47082ad3b2d3/scratchpad/deck/img/ic-heart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204" y="2329160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60029" y="2962656"/>
            <a:ext cx="28264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sells a feeling, not a feature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60029" y="3511296"/>
            <a:ext cx="28264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are compared; experiences are remembered. "It just works" is the kind of claim customers repeat to each other, which turns owners into advocates.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5084064"/>
            <a:ext cx="11002975" cy="1188720"/>
          </a:xfrm>
          <a:prstGeom prst="roundRect">
            <a:avLst>
              <a:gd name="adj" fmla="val 12308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1005840" y="5193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EVIDENCE, IN EVERYDAY TERMS</a:t>
            </a:r>
            <a:endParaRPr lang="en-US" sz="1050" dirty="0"/>
          </a:p>
        </p:txBody>
      </p:sp>
      <p:pic>
        <p:nvPicPr>
          <p:cNvPr id="23" name="Image 3" descr="/tmp/claude-0/-home-user-prism-fluo/31874c90-9757-545b-b1b5-47082ad3b2d3/scratchpad/deck/img/ic-link-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55955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4752" y="55412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the task follows you between devices</a:t>
            </a:r>
            <a:endParaRPr lang="en-US" sz="1150" dirty="0"/>
          </a:p>
        </p:txBody>
      </p:sp>
      <p:pic>
        <p:nvPicPr>
          <p:cNvPr id="25" name="Image 4" descr="/tmp/claude-0/-home-user-prism-fluo/31874c90-9757-545b-b1b5-47082ad3b2d3/scratchpad/deck/img/ic-share-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5595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010912" y="55412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AirDrop: sharing needs no app, account or cable</a:t>
            </a:r>
            <a:endParaRPr lang="en-US" sz="1150" dirty="0"/>
          </a:p>
        </p:txBody>
      </p:sp>
      <p:pic>
        <p:nvPicPr>
          <p:cNvPr id="27" name="Image 5" descr="/tmp/claude-0/-home-user-prism-fluo/31874c90-9757-545b-b1b5-47082ad3b2d3/scratchpad/deck/img/ic-cloud-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555955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577072" y="55412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iCloud: the same photo is already on every screen</a:t>
            </a:r>
            <a:endParaRPr lang="en-US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0B0D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ANALYSIS · BRIDGE TO THE ADVERTISING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7498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USP should be communicated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3949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2350008"/>
            <a:ext cx="621792" cy="621792"/>
          </a:xfrm>
          <a:prstGeom prst="ellipse">
            <a:avLst/>
          </a:prstGeom>
          <a:solidFill>
            <a:srgbClr val="FF3B30"/>
          </a:solidFill>
          <a:ln/>
        </p:spPr>
      </p:sp>
      <p:pic>
        <p:nvPicPr>
          <p:cNvPr id="8" name="Image 0" descr="/tmp/claude-0/-home-user-prism-fluo/31874c90-9757-545b-b1b5-47082ad3b2d3/scratchpad/deck/img/ic-targe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210" y="2511674"/>
            <a:ext cx="298460" cy="298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225856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ad must SAY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60604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own works together — with nothing to set up.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73952" y="1920240"/>
            <a:ext cx="53949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03136" y="2350008"/>
            <a:ext cx="621792" cy="621792"/>
          </a:xfrm>
          <a:prstGeom prst="ellipse">
            <a:avLst/>
          </a:prstGeom>
          <a:solidFill>
            <a:srgbClr val="1D1D1F"/>
          </a:solidFill>
          <a:ln/>
        </p:spPr>
      </p:sp>
      <p:pic>
        <p:nvPicPr>
          <p:cNvPr id="13" name="Image 1" descr="/tmp/claude-0/-home-user-prism-fluo/31874c90-9757-545b-b1b5-47082ad3b2d3/scratchpad/deck/img/ic-he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802" y="2511674"/>
            <a:ext cx="298460" cy="298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62672" y="225856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ad must MAKE YOU FEEL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662672" y="260604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Relief. The small daily frictions simply are not there any more.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3639312"/>
            <a:ext cx="53949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3544" y="4069080"/>
            <a:ext cx="621792" cy="621792"/>
          </a:xfrm>
          <a:prstGeom prst="ellipse">
            <a:avLst/>
          </a:prstGeom>
          <a:solidFill>
            <a:srgbClr val="12B886"/>
          </a:solidFill>
          <a:ln/>
        </p:spPr>
      </p:sp>
      <p:pic>
        <p:nvPicPr>
          <p:cNvPr id="18" name="Image 2" descr="/tmp/claude-0/-home-user-prism-fluo/31874c90-9757-545b-b1b5-47082ad3b2d3/scratchpad/deck/img/ic-chec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10" y="4230746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397764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ad must PROVE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4325112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hand-off happening: one action, two devices, no explanation needed.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73952" y="3639312"/>
            <a:ext cx="5394960" cy="148132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03136" y="4069080"/>
            <a:ext cx="621792" cy="621792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23" name="Image 3" descr="/tmp/claude-0/-home-user-prism-fluo/31874c90-9757-545b-b1b5-47082ad3b2d3/scratchpad/deck/img/ic-music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802" y="4230746"/>
            <a:ext cx="298460" cy="298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62672" y="3977640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AUDIO suits this USP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7662672" y="4325112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is a sequence of moments, so it can be sung. Sound can travel between devices in a way a still image cannot.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94360" y="5358384"/>
            <a:ext cx="11002975" cy="914400"/>
          </a:xfrm>
          <a:prstGeom prst="roundRect">
            <a:avLst>
              <a:gd name="adj" fmla="val 16000"/>
            </a:avLst>
          </a:prstGeom>
          <a:solidFill>
            <a:srgbClr val="0B0D12"/>
          </a:solidFill>
          <a:ln/>
          <a:effectLst>
            <a:outerShdw sx="100000" sy="100000" kx="0" ky="0" algn="bl" rotWithShape="0" blurRad="203200" dist="508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/tmp/claude-0/-home-user-prism-fluo/31874c90-9757-545b-b1b5-47082ad3b2d3/scratchpad/deck/img/ic-arrow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614416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563624" y="5358384"/>
            <a:ext cx="9539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to Gouraksh — who turns this brief into a fifteen-second jingle.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02336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448495" y="4023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GOURAKSH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ADVERTISEMENT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37160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Tap Away"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3113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fifteen-second jingle. Each line is one device picking up where the last one left off — the music never stops, and neither does the task.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3200400"/>
            <a:ext cx="5577840" cy="2761488"/>
          </a:xfrm>
          <a:prstGeom prst="roundRect">
            <a:avLst>
              <a:gd name="adj" fmla="val 5298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8" name="Image 0" descr="/tmp/claude-0/-home-user-prism-fluo/31874c90-9757-545b-b1b5-47082ad3b2d3/scratchpad/deck/img/ic-music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456432"/>
            <a:ext cx="420624" cy="420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27048" y="34564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LYRICS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986784"/>
            <a:ext cx="48463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to laptop — tap, it’s there,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flying through the air.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on wrist, buds in your ear,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love stays near.</a:t>
            </a: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endParaRPr lang="en-US" sz="15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Apple. One world, one tap away.</a:t>
            </a:r>
            <a:endParaRPr lang="en-US" sz="1500" dirty="0"/>
          </a:p>
        </p:txBody>
      </p:sp>
      <p:pic>
        <p:nvPicPr>
          <p:cNvPr id="11" name="Image 1" descr="/tmp/claude-0/-home-user-prism-fluo/31874c90-9757-545b-b1b5-47082ad3b2d3/scratchpad/deck/img/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33856"/>
            <a:ext cx="4937760" cy="1856232"/>
          </a:xfrm>
          <a:prstGeom prst="rect">
            <a:avLst/>
          </a:prstGeom>
        </p:spPr>
      </p:pic>
      <p:pic>
        <p:nvPicPr>
          <p:cNvPr id="12" name="Image 2" descr="/tmp/claude-0/-home-user-prism-fluo/31874c90-9757-545b-b1b5-47082ad3b2d3/scratchpad/deck/img/ic-link-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12724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22592" y="3072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1 = Handoff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022592" y="33467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moves between devices without stopping.</a:t>
            </a:r>
            <a:endParaRPr lang="en-US" sz="1050" dirty="0"/>
          </a:p>
        </p:txBody>
      </p:sp>
      <p:pic>
        <p:nvPicPr>
          <p:cNvPr id="15" name="Image 3" descr="/tmp/claude-0/-home-user-prism-fluo/31874c90-9757-545b-b1b5-47082ad3b2d3/scratchpad/deck/img/ic-share-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803904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22592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2 = AirDrop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022592" y="4023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sounds effortless because it is described as flying.</a:t>
            </a:r>
            <a:endParaRPr lang="en-US" sz="1050" dirty="0"/>
          </a:p>
        </p:txBody>
      </p:sp>
      <p:pic>
        <p:nvPicPr>
          <p:cNvPr id="18" name="Image 4" descr="/tmp/claude-0/-home-user-prism-fluo/31874c90-9757-545b-b1b5-47082ad3b2d3/scratchpad/deck/img/ic-watch-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8056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22592" y="44256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3 = Watch + AirPods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7022592" y="47000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devices join the same sentence.</a:t>
            </a:r>
            <a:endParaRPr lang="en-US" sz="1050" dirty="0"/>
          </a:p>
        </p:txBody>
      </p:sp>
      <p:pic>
        <p:nvPicPr>
          <p:cNvPr id="21" name="Image 5" descr="/tmp/claude-0/-home-user-prism-fluo/31874c90-9757-545b-b1b5-47082ad3b2d3/scratchpad/deck/img/ic-heart-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515721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22592" y="51023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4 = the payoff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7022592" y="5376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"Stays near" is the emotional promise of the ecosystem.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583680" y="5779008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5B301">
                <a:alpha val="55000"/>
              </a:srgbClr>
            </a:solidFill>
            <a:prstDash val="solid"/>
          </a:ln>
        </p:spPr>
      </p:sp>
      <p:pic>
        <p:nvPicPr>
          <p:cNvPr id="25" name="Image 6" descr="/tmp/claude-0/-home-user-prism-fluo/31874c90-9757-545b-b1b5-47082ad3b2d3/scratchpad/deck/img/ic-mic-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588873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223760" y="57790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OR PLAY THE JINGLE HERE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59436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vs Samsung  ·  USP Analysis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0682935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07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664208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sells you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products.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sells you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experience.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4480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 seamless ecosystem is the stronger Unique Selling Proposition.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82128" y="1664208"/>
            <a:ext cx="3712464" cy="2651760"/>
          </a:xfrm>
          <a:prstGeom prst="roundRect">
            <a:avLst>
              <a:gd name="adj" fmla="val 62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11312" y="1993392"/>
            <a:ext cx="731520" cy="73152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7" name="Image 0" descr="/tmp/claude-0/-home-user-prism-fluo/31874c90-9757-545b-b1b5-47082ad3b2d3/scratchpad/deck/img/ic-megaphon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507" y="2183587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11312" y="2907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TAGLINE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11312" y="3200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world.</a:t>
            </a:r>
            <a:endParaRPr lang="en-US" sz="2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away."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94360" y="5138928"/>
            <a:ext cx="11002975" cy="1060704"/>
          </a:xfrm>
          <a:prstGeom prst="roundRect">
            <a:avLst>
              <a:gd name="adj" fmla="val 1293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52852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5B3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 WELCOME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5614416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 ·  Yashvi  ·  Nishita  ·  Aarya  ·  Venesa  ·  Simran  ·  Mann  ·  Gouraksh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vs Samsung: The Battle of the USPs</dc:title>
  <dc:subject>PptxGenJS Presentation</dc:subject>
  <dc:creator>Apple vs Samsung — USP Presentation</dc:creator>
  <cp:lastModifiedBy>Apple vs Samsung — USP Presentation</cp:lastModifiedBy>
  <cp:revision>1</cp:revision>
  <dcterms:created xsi:type="dcterms:W3CDTF">2026-09-04T15:51:51Z</dcterms:created>
  <dcterms:modified xsi:type="dcterms:W3CDTF">2026-09-04T15:51:51Z</dcterms:modified>
</cp:coreProperties>
</file>